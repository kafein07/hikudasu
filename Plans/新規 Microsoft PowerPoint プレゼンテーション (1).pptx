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42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765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0569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3818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65713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940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651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8537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83227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4117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167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4595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131719C5-9EBF-4349-B159-C9424D1D0723}" type="datetimeFigureOut">
              <a:rPr kumimoji="1" lang="ja-JP" altLang="en-US" smtClean="0"/>
              <a:t>2025/11/17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233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  <p:sldLayoutId id="2147483915" r:id="rId4"/>
    <p:sldLayoutId id="2147483916" r:id="rId5"/>
    <p:sldLayoutId id="2147483917" r:id="rId6"/>
    <p:sldLayoutId id="2147483918" r:id="rId7"/>
    <p:sldLayoutId id="2147483919" r:id="rId8"/>
    <p:sldLayoutId id="2147483920" r:id="rId9"/>
    <p:sldLayoutId id="2147483921" r:id="rId10"/>
    <p:sldLayoutId id="214748392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D89AC63-9F08-4CEE-A6AF-088F24DBD5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14325" y="-4343400"/>
            <a:ext cx="16020650" cy="155447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51DD64BB-1183-48B4-AB9D-0F42A61B29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>
                <a:solidFill>
                  <a:schemeClr val="accent1">
                    <a:lumMod val="50000"/>
                  </a:schemeClr>
                </a:solidFill>
                <a:latin typeface="ポプらむ☆キウイ Telop" pitchFamily="50" charset="0"/>
                <a:ea typeface="ポプらむ☆キウイ Telop" pitchFamily="50" charset="0"/>
              </a:rPr>
              <a:t>プルプルキャット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5B59136-B0C6-458E-AFE5-908D420DC3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sz="4000" dirty="0">
                <a:solidFill>
                  <a:srgbClr val="0070C0"/>
                </a:solidFill>
                <a:latin typeface="+mj-lt"/>
              </a:rPr>
              <a:t>ー</a:t>
            </a:r>
            <a:r>
              <a:rPr lang="en-US" altLang="ja-JP" sz="4000" dirty="0">
                <a:solidFill>
                  <a:srgbClr val="0070C0"/>
                </a:solidFill>
                <a:latin typeface="+mj-lt"/>
              </a:rPr>
              <a:t>Pull </a:t>
            </a:r>
            <a:r>
              <a:rPr lang="en-US" altLang="ja-JP" sz="4000" dirty="0" err="1">
                <a:solidFill>
                  <a:srgbClr val="0070C0"/>
                </a:solidFill>
                <a:latin typeface="+mj-lt"/>
              </a:rPr>
              <a:t>Pull</a:t>
            </a:r>
            <a:r>
              <a:rPr lang="en-US" altLang="ja-JP" sz="4000" dirty="0">
                <a:solidFill>
                  <a:srgbClr val="0070C0"/>
                </a:solidFill>
                <a:latin typeface="+mj-lt"/>
              </a:rPr>
              <a:t> Cat</a:t>
            </a:r>
            <a:r>
              <a:rPr lang="ja-JP" altLang="en-US" sz="4000" dirty="0">
                <a:solidFill>
                  <a:srgbClr val="0070C0"/>
                </a:solidFill>
                <a:latin typeface="+mj-lt"/>
              </a:rPr>
              <a:t>ー</a:t>
            </a:r>
            <a:endParaRPr kumimoji="1" lang="ja-JP" altLang="en-US" sz="4000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4794889-2154-43D9-B6C2-08983ED5439B}"/>
              </a:ext>
            </a:extLst>
          </p:cNvPr>
          <p:cNvSpPr txBox="1"/>
          <p:nvPr/>
        </p:nvSpPr>
        <p:spPr>
          <a:xfrm>
            <a:off x="2751221" y="2463045"/>
            <a:ext cx="66895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6000" dirty="0">
                <a:solidFill>
                  <a:srgbClr val="00B0F0"/>
                </a:solidFill>
                <a:latin typeface="ポプらむ☆キウイ Telop" pitchFamily="50" charset="0"/>
                <a:ea typeface="ポプらむ☆キウイ Telop" pitchFamily="50" charset="0"/>
              </a:rPr>
              <a:t>プルプルキャット</a:t>
            </a:r>
            <a:endParaRPr kumimoji="1" lang="ja-JP" altLang="en-US" sz="60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1554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9D839F9-C86B-4112-A8A0-0731F1E981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14325" y="-4343400"/>
            <a:ext cx="16020650" cy="155447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1F2F7054-EA09-49BA-8305-FC42183B1A9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09600" y="319088"/>
            <a:ext cx="10515600" cy="973137"/>
          </a:xfrm>
        </p:spPr>
        <p:txBody>
          <a:bodyPr/>
          <a:lstStyle/>
          <a:p>
            <a:r>
              <a:rPr kumimoji="1" lang="ja-JP" altLang="en-US" dirty="0"/>
              <a:t>メインターゲット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6568ED-2755-4F4E-9009-4F04E3585A1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66800" y="1292225"/>
            <a:ext cx="10515600" cy="1090613"/>
          </a:xfrm>
        </p:spPr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全年齢対象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多くの人に親しまれるゲーム性、雰囲気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D56E2E-3EA6-419F-9F73-0BAFD8B49169}"/>
              </a:ext>
            </a:extLst>
          </p:cNvPr>
          <p:cNvSpPr txBox="1"/>
          <p:nvPr/>
        </p:nvSpPr>
        <p:spPr>
          <a:xfrm>
            <a:off x="609600" y="2895276"/>
            <a:ext cx="53908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プラットフォーム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F611C2-5781-4472-B951-6CABD2B4B5EB}"/>
              </a:ext>
            </a:extLst>
          </p:cNvPr>
          <p:cNvSpPr txBox="1"/>
          <p:nvPr/>
        </p:nvSpPr>
        <p:spPr>
          <a:xfrm>
            <a:off x="1066800" y="4005115"/>
            <a:ext cx="12041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steam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762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2D2E755-E9A8-4B11-89BD-641E427CD0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14325" y="-4343400"/>
            <a:ext cx="16020650" cy="155447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63E14C9-0409-48FB-802E-5E582E988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FFCE29-125A-481F-8D85-90790D16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様々な形をしたブロックを押したり引いたりしてゴールを目指すゲーム</a:t>
            </a:r>
            <a:endParaRPr kumimoji="1" lang="en-US" altLang="ja-JP" dirty="0"/>
          </a:p>
          <a:p>
            <a:r>
              <a:rPr kumimoji="1" lang="ja-JP" altLang="en-US" dirty="0"/>
              <a:t>絵本のような親しみやすい世界観</a:t>
            </a:r>
          </a:p>
        </p:txBody>
      </p:sp>
    </p:spTree>
    <p:extLst>
      <p:ext uri="{BB962C8B-B14F-4D97-AF65-F5344CB8AC3E}">
        <p14:creationId xmlns:p14="http://schemas.microsoft.com/office/powerpoint/2010/main" val="1200505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AA786F1-2F3B-4F88-945D-541875F5BA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14325" y="-4343400"/>
            <a:ext cx="16020650" cy="1554479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8274B098-7183-436A-BA3D-691013FB4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あらすじ</a:t>
            </a:r>
          </a:p>
        </p:txBody>
      </p:sp>
      <p:pic>
        <p:nvPicPr>
          <p:cNvPr id="10" name="コンテンツ プレースホルダー 9">
            <a:extLst>
              <a:ext uri="{FF2B5EF4-FFF2-40B4-BE49-F238E27FC236}">
                <a16:creationId xmlns:a16="http://schemas.microsoft.com/office/drawing/2014/main" id="{28475616-F67F-476D-B185-46D5D53AFF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2" t="6905" r="3694" b="9907"/>
          <a:stretch/>
        </p:blipFill>
        <p:spPr>
          <a:xfrm>
            <a:off x="1758461" y="1440106"/>
            <a:ext cx="8271803" cy="4960376"/>
          </a:xfr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A9F64BD8-1E44-4619-9BDA-221E9EFEF6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1601" y="1691321"/>
            <a:ext cx="3612198" cy="4132703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070F6A6-9DC0-4356-BEC0-6B17C5F36B88}"/>
              </a:ext>
            </a:extLst>
          </p:cNvPr>
          <p:cNvSpPr txBox="1"/>
          <p:nvPr/>
        </p:nvSpPr>
        <p:spPr>
          <a:xfrm>
            <a:off x="6096000" y="1955409"/>
            <a:ext cx="3612198" cy="3868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2D584B4-845E-43EC-95A5-826441387212}"/>
              </a:ext>
            </a:extLst>
          </p:cNvPr>
          <p:cNvSpPr txBox="1"/>
          <p:nvPr/>
        </p:nvSpPr>
        <p:spPr>
          <a:xfrm>
            <a:off x="6005865" y="2118229"/>
            <a:ext cx="361219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latin typeface="Tw Cen MT Condensed Extra Bold" panose="020B0803020202020204" pitchFamily="34" charset="0"/>
              </a:rPr>
              <a:t>森のはずれに住む少年は</a:t>
            </a:r>
            <a:endParaRPr kumimoji="1" lang="en-US" altLang="ja-JP" sz="2400" b="1" dirty="0">
              <a:latin typeface="Tw Cen MT Condensed Extra Bold" panose="020B0803020202020204" pitchFamily="34" charset="0"/>
            </a:endParaRPr>
          </a:p>
          <a:p>
            <a:r>
              <a:rPr kumimoji="1" lang="ja-JP" altLang="en-US" sz="2400" b="1" dirty="0">
                <a:latin typeface="Tw Cen MT Condensed Extra Bold" panose="020B0803020202020204" pitchFamily="34" charset="0"/>
              </a:rPr>
              <a:t>母の日に感謝を伝えるため</a:t>
            </a:r>
            <a:endParaRPr kumimoji="1" lang="en-US" altLang="ja-JP" sz="2400" b="1" dirty="0">
              <a:latin typeface="Tw Cen MT Condensed Extra Bold" panose="020B0803020202020204" pitchFamily="34" charset="0"/>
            </a:endParaRPr>
          </a:p>
          <a:p>
            <a:r>
              <a:rPr kumimoji="1" lang="ja-JP" altLang="en-US" sz="2400" b="1" dirty="0">
                <a:latin typeface="Tw Cen MT Condensed Extra Bold" panose="020B0803020202020204" pitchFamily="34" charset="0"/>
              </a:rPr>
              <a:t>森に花を摘みに出かけました</a:t>
            </a:r>
            <a:endParaRPr kumimoji="1" lang="en-US" altLang="ja-JP" sz="2400" b="1" dirty="0">
              <a:latin typeface="Tw Cen MT Condensed Extra Bold" panose="020B0803020202020204" pitchFamily="34" charset="0"/>
            </a:endParaRPr>
          </a:p>
          <a:p>
            <a:endParaRPr kumimoji="1" lang="en-US" altLang="ja-JP" sz="2400" b="1" dirty="0">
              <a:latin typeface="Tw Cen MT Condensed Extra Bold" panose="020B0803020202020204" pitchFamily="34" charset="0"/>
            </a:endParaRPr>
          </a:p>
          <a:p>
            <a:r>
              <a:rPr kumimoji="1" lang="en-US" altLang="ja-JP" sz="2400" b="1" dirty="0">
                <a:latin typeface="Tw Cen MT Condensed Extra Bold" panose="020B0803020202020204" pitchFamily="34" charset="0"/>
              </a:rPr>
              <a:t>…</a:t>
            </a:r>
            <a:r>
              <a:rPr kumimoji="1" lang="ja-JP" altLang="en-US" sz="2400" b="1" dirty="0">
                <a:latin typeface="Tw Cen MT Condensed Extra Bold" panose="020B0803020202020204" pitchFamily="34" charset="0"/>
              </a:rPr>
              <a:t>立ち入り禁止の看板に</a:t>
            </a:r>
            <a:endParaRPr kumimoji="1" lang="en-US" altLang="ja-JP" sz="2400" b="1" dirty="0">
              <a:latin typeface="Tw Cen MT Condensed Extra Bold" panose="020B0803020202020204" pitchFamily="34" charset="0"/>
            </a:endParaRPr>
          </a:p>
          <a:p>
            <a:r>
              <a:rPr kumimoji="1" lang="ja-JP" altLang="en-US" sz="2400" b="1" dirty="0">
                <a:latin typeface="Tw Cen MT Condensed Extra Bold" panose="020B0803020202020204" pitchFamily="34" charset="0"/>
              </a:rPr>
              <a:t>気づかずに</a:t>
            </a:r>
            <a:endParaRPr kumimoji="1" lang="en-US" altLang="ja-JP" sz="2400" b="1" dirty="0">
              <a:latin typeface="Tw Cen MT Condensed Extra Bold" panose="020B0803020202020204" pitchFamily="34" charset="0"/>
            </a:endParaRPr>
          </a:p>
        </p:txBody>
      </p:sp>
      <p:sp>
        <p:nvSpPr>
          <p:cNvPr id="7" name="二等辺三角形 6">
            <a:extLst>
              <a:ext uri="{FF2B5EF4-FFF2-40B4-BE49-F238E27FC236}">
                <a16:creationId xmlns:a16="http://schemas.microsoft.com/office/drawing/2014/main" id="{F834FF71-A80D-42D7-86C0-6C626BAAE65B}"/>
              </a:ext>
            </a:extLst>
          </p:cNvPr>
          <p:cNvSpPr/>
          <p:nvPr/>
        </p:nvSpPr>
        <p:spPr>
          <a:xfrm rot="21031360">
            <a:off x="3352297" y="3853154"/>
            <a:ext cx="400075" cy="38549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820473B-4768-4848-83B2-784843012E58}"/>
              </a:ext>
            </a:extLst>
          </p:cNvPr>
          <p:cNvSpPr/>
          <p:nvPr/>
        </p:nvSpPr>
        <p:spPr>
          <a:xfrm rot="2398471">
            <a:off x="4113191" y="4619855"/>
            <a:ext cx="491597" cy="703385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フローチャート: 結合子 5">
            <a:extLst>
              <a:ext uri="{FF2B5EF4-FFF2-40B4-BE49-F238E27FC236}">
                <a16:creationId xmlns:a16="http://schemas.microsoft.com/office/drawing/2014/main" id="{E85ED67D-438C-487B-A73C-37FFC273048C}"/>
              </a:ext>
            </a:extLst>
          </p:cNvPr>
          <p:cNvSpPr/>
          <p:nvPr/>
        </p:nvSpPr>
        <p:spPr>
          <a:xfrm>
            <a:off x="3311637" y="3968689"/>
            <a:ext cx="1266092" cy="1325562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二等辺三角形 10">
            <a:extLst>
              <a:ext uri="{FF2B5EF4-FFF2-40B4-BE49-F238E27FC236}">
                <a16:creationId xmlns:a16="http://schemas.microsoft.com/office/drawing/2014/main" id="{20B3CFFF-57E9-4C17-B10F-0C04426B9127}"/>
              </a:ext>
            </a:extLst>
          </p:cNvPr>
          <p:cNvSpPr/>
          <p:nvPr/>
        </p:nvSpPr>
        <p:spPr>
          <a:xfrm rot="1439998">
            <a:off x="4092512" y="3853155"/>
            <a:ext cx="400075" cy="38549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DF5446E4-0BAD-48FA-86CD-33AC42F8CCE1}"/>
              </a:ext>
            </a:extLst>
          </p:cNvPr>
          <p:cNvSpPr/>
          <p:nvPr/>
        </p:nvSpPr>
        <p:spPr>
          <a:xfrm>
            <a:off x="3296515" y="4797971"/>
            <a:ext cx="491597" cy="703385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0513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D89AC63-9F08-4CEE-A6AF-088F24DBD5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914325" y="-4295220"/>
            <a:ext cx="16020650" cy="155447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51DD64BB-1183-48B4-AB9D-0F42A61B2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ゲームシステム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2E0638-4A04-4FEF-A87B-F6818FD7D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27" y="1463040"/>
            <a:ext cx="10515600" cy="4717097"/>
          </a:xfrm>
        </p:spPr>
        <p:txBody>
          <a:bodyPr/>
          <a:lstStyle/>
          <a:p>
            <a:r>
              <a:rPr lang="ja-JP" altLang="en-US" dirty="0"/>
              <a:t>簡単操作！「引き出しパズルアクション」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B7DD563-948C-49E0-8E06-64E6113541A5}"/>
              </a:ext>
            </a:extLst>
          </p:cNvPr>
          <p:cNvSpPr/>
          <p:nvPr/>
        </p:nvSpPr>
        <p:spPr>
          <a:xfrm>
            <a:off x="2281311" y="3196882"/>
            <a:ext cx="984739" cy="46423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5A89DE-3440-4CB9-BE35-C290D020D2FF}"/>
              </a:ext>
            </a:extLst>
          </p:cNvPr>
          <p:cNvSpPr/>
          <p:nvPr/>
        </p:nvSpPr>
        <p:spPr>
          <a:xfrm>
            <a:off x="8161607" y="3196882"/>
            <a:ext cx="979850" cy="46423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40A150A-8FDE-4FFB-844C-CE03184F6B9A}"/>
              </a:ext>
            </a:extLst>
          </p:cNvPr>
          <p:cNvSpPr/>
          <p:nvPr/>
        </p:nvSpPr>
        <p:spPr>
          <a:xfrm>
            <a:off x="7664349" y="3196882"/>
            <a:ext cx="492369" cy="46423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0036FEB-C8F9-4488-A18B-15B807C2A156}"/>
              </a:ext>
            </a:extLst>
          </p:cNvPr>
          <p:cNvSpPr/>
          <p:nvPr/>
        </p:nvSpPr>
        <p:spPr>
          <a:xfrm>
            <a:off x="2281311" y="2808104"/>
            <a:ext cx="979850" cy="464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DCB4A0E-6589-4A83-AB45-F36FC1F4DF0D}"/>
              </a:ext>
            </a:extLst>
          </p:cNvPr>
          <p:cNvSpPr/>
          <p:nvPr/>
        </p:nvSpPr>
        <p:spPr>
          <a:xfrm>
            <a:off x="2771236" y="2343870"/>
            <a:ext cx="492369" cy="46423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4008A24-6799-49BF-BAA6-6189A06D61E8}"/>
              </a:ext>
            </a:extLst>
          </p:cNvPr>
          <p:cNvSpPr/>
          <p:nvPr/>
        </p:nvSpPr>
        <p:spPr>
          <a:xfrm>
            <a:off x="8161607" y="2745756"/>
            <a:ext cx="979850" cy="464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1FB8D68-66D9-4C1C-9240-0E7565304E3E}"/>
              </a:ext>
            </a:extLst>
          </p:cNvPr>
          <p:cNvSpPr/>
          <p:nvPr/>
        </p:nvSpPr>
        <p:spPr>
          <a:xfrm>
            <a:off x="8649088" y="2271133"/>
            <a:ext cx="492369" cy="46423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フローチャート: 結合子 17">
            <a:extLst>
              <a:ext uri="{FF2B5EF4-FFF2-40B4-BE49-F238E27FC236}">
                <a16:creationId xmlns:a16="http://schemas.microsoft.com/office/drawing/2014/main" id="{1F32FBF5-B198-4FF9-87B8-8BF381FE2127}"/>
              </a:ext>
            </a:extLst>
          </p:cNvPr>
          <p:cNvSpPr/>
          <p:nvPr/>
        </p:nvSpPr>
        <p:spPr>
          <a:xfrm>
            <a:off x="1568371" y="3206472"/>
            <a:ext cx="492369" cy="480669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3B3BEB75-2668-4C76-8613-430CF91C6B8A}"/>
              </a:ext>
            </a:extLst>
          </p:cNvPr>
          <p:cNvSpPr/>
          <p:nvPr/>
        </p:nvSpPr>
        <p:spPr>
          <a:xfrm rot="1107513">
            <a:off x="1570081" y="3584302"/>
            <a:ext cx="356582" cy="207499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二等辺三角形 19">
            <a:extLst>
              <a:ext uri="{FF2B5EF4-FFF2-40B4-BE49-F238E27FC236}">
                <a16:creationId xmlns:a16="http://schemas.microsoft.com/office/drawing/2014/main" id="{9A87B542-0843-4810-8B09-794858D6DC0E}"/>
              </a:ext>
            </a:extLst>
          </p:cNvPr>
          <p:cNvSpPr/>
          <p:nvPr/>
        </p:nvSpPr>
        <p:spPr>
          <a:xfrm rot="19742171">
            <a:off x="1541431" y="3093509"/>
            <a:ext cx="226362" cy="21645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台形 20">
            <a:extLst>
              <a:ext uri="{FF2B5EF4-FFF2-40B4-BE49-F238E27FC236}">
                <a16:creationId xmlns:a16="http://schemas.microsoft.com/office/drawing/2014/main" id="{A3E1FF6A-1851-4FDE-B848-962F98115C72}"/>
              </a:ext>
            </a:extLst>
          </p:cNvPr>
          <p:cNvSpPr/>
          <p:nvPr/>
        </p:nvSpPr>
        <p:spPr>
          <a:xfrm rot="16200000">
            <a:off x="2045510" y="3326609"/>
            <a:ext cx="152734" cy="322250"/>
          </a:xfrm>
          <a:prstGeom prst="trapezoi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FA0423C6-3B9E-4C4D-9715-ED63A39C19B4}"/>
              </a:ext>
            </a:extLst>
          </p:cNvPr>
          <p:cNvSpPr/>
          <p:nvPr/>
        </p:nvSpPr>
        <p:spPr>
          <a:xfrm>
            <a:off x="4609363" y="2899542"/>
            <a:ext cx="1477108" cy="620896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A22E01C4-F660-45C5-8659-5719768B2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094" y="3170553"/>
            <a:ext cx="493819" cy="481626"/>
          </a:xfrm>
          <a:prstGeom prst="rect">
            <a:avLst/>
          </a:prstGeom>
        </p:spPr>
      </p:pic>
      <p:sp>
        <p:nvSpPr>
          <p:cNvPr id="24" name="台形 23">
            <a:extLst>
              <a:ext uri="{FF2B5EF4-FFF2-40B4-BE49-F238E27FC236}">
                <a16:creationId xmlns:a16="http://schemas.microsoft.com/office/drawing/2014/main" id="{F33B38F1-1B3F-4647-9F55-347E717A207D}"/>
              </a:ext>
            </a:extLst>
          </p:cNvPr>
          <p:cNvSpPr/>
          <p:nvPr/>
        </p:nvSpPr>
        <p:spPr>
          <a:xfrm rot="16200000">
            <a:off x="7448867" y="3316056"/>
            <a:ext cx="152734" cy="322250"/>
          </a:xfrm>
          <a:prstGeom prst="trapezoi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D6684FAD-08E4-43A9-A854-F46F87161AF5}"/>
              </a:ext>
            </a:extLst>
          </p:cNvPr>
          <p:cNvSpPr/>
          <p:nvPr/>
        </p:nvSpPr>
        <p:spPr>
          <a:xfrm rot="20674603">
            <a:off x="7147480" y="3570410"/>
            <a:ext cx="356582" cy="207499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二等辺三角形 27">
            <a:extLst>
              <a:ext uri="{FF2B5EF4-FFF2-40B4-BE49-F238E27FC236}">
                <a16:creationId xmlns:a16="http://schemas.microsoft.com/office/drawing/2014/main" id="{95213F61-5C7C-4F7E-B07A-68B61B5D51A7}"/>
              </a:ext>
            </a:extLst>
          </p:cNvPr>
          <p:cNvSpPr/>
          <p:nvPr/>
        </p:nvSpPr>
        <p:spPr>
          <a:xfrm rot="19742171">
            <a:off x="6875173" y="3093508"/>
            <a:ext cx="226362" cy="21645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二等辺三角形 6">
            <a:extLst>
              <a:ext uri="{FF2B5EF4-FFF2-40B4-BE49-F238E27FC236}">
                <a16:creationId xmlns:a16="http://schemas.microsoft.com/office/drawing/2014/main" id="{39EAFE9F-7E65-4E82-8C5B-B8300283D816}"/>
              </a:ext>
            </a:extLst>
          </p:cNvPr>
          <p:cNvSpPr/>
          <p:nvPr/>
        </p:nvSpPr>
        <p:spPr>
          <a:xfrm rot="5400000" flipH="1">
            <a:off x="3018784" y="1939951"/>
            <a:ext cx="200125" cy="218935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EFB0018-35EA-4130-8C5F-61F2C4371302}"/>
              </a:ext>
            </a:extLst>
          </p:cNvPr>
          <p:cNvSpPr/>
          <p:nvPr/>
        </p:nvSpPr>
        <p:spPr>
          <a:xfrm>
            <a:off x="3009379" y="1955092"/>
            <a:ext cx="45719" cy="3822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A19B94B-5478-4E23-8937-7EF7A05CA63B}"/>
              </a:ext>
            </a:extLst>
          </p:cNvPr>
          <p:cNvSpPr txBox="1"/>
          <p:nvPr/>
        </p:nvSpPr>
        <p:spPr>
          <a:xfrm rot="19698959">
            <a:off x="839976" y="2570052"/>
            <a:ext cx="1511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Tw Cen MT Condensed Extra Bold" panose="020B0803020202020204" pitchFamily="34" charset="0"/>
              </a:rPr>
              <a:t>つかんで</a:t>
            </a:r>
            <a:r>
              <a:rPr kumimoji="1" lang="en-US" altLang="ja-JP" b="1" dirty="0">
                <a:latin typeface="Tw Cen MT Condensed Extra Bold" panose="020B0803020202020204" pitchFamily="34" charset="0"/>
              </a:rPr>
              <a:t>…</a:t>
            </a:r>
            <a:endParaRPr kumimoji="1" lang="ja-JP" altLang="en-US" b="1" dirty="0">
              <a:latin typeface="Tw Cen MT Condensed Extra Bold" panose="020B0803020202020204" pitchFamily="34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01EEC0C-22B4-479F-99DD-D3C01794E122}"/>
              </a:ext>
            </a:extLst>
          </p:cNvPr>
          <p:cNvSpPr txBox="1"/>
          <p:nvPr/>
        </p:nvSpPr>
        <p:spPr>
          <a:xfrm rot="21136700">
            <a:off x="6364871" y="2412504"/>
            <a:ext cx="1856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>
                <a:latin typeface="Tw Cen MT Condensed Extra Bold" panose="020B0803020202020204" pitchFamily="34" charset="0"/>
              </a:rPr>
              <a:t>ひっぱる！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4A779EC-D9BC-4612-BAF9-9C528D799A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261" y="1900924"/>
            <a:ext cx="231668" cy="21337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DFAAE73-D597-4423-94CD-0E973F5B5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4858" y="1893569"/>
            <a:ext cx="60965" cy="396274"/>
          </a:xfrm>
          <a:prstGeom prst="rect">
            <a:avLst/>
          </a:prstGeom>
        </p:spPr>
      </p:pic>
      <p:sp>
        <p:nvSpPr>
          <p:cNvPr id="26" name="矢印: 下カーブ 25">
            <a:extLst>
              <a:ext uri="{FF2B5EF4-FFF2-40B4-BE49-F238E27FC236}">
                <a16:creationId xmlns:a16="http://schemas.microsoft.com/office/drawing/2014/main" id="{020588BC-C308-41EC-B8BB-A9E853C69837}"/>
              </a:ext>
            </a:extLst>
          </p:cNvPr>
          <p:cNvSpPr/>
          <p:nvPr/>
        </p:nvSpPr>
        <p:spPr>
          <a:xfrm rot="5400000">
            <a:off x="7517904" y="3841890"/>
            <a:ext cx="1076106" cy="1012874"/>
          </a:xfrm>
          <a:prstGeom prst="curved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8B779F6-9920-48CE-996A-5C31D596F2FD}"/>
              </a:ext>
            </a:extLst>
          </p:cNvPr>
          <p:cNvSpPr/>
          <p:nvPr/>
        </p:nvSpPr>
        <p:spPr>
          <a:xfrm>
            <a:off x="4855547" y="5394960"/>
            <a:ext cx="984739" cy="46423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B850615-429D-40E0-90DC-D33D80412E4E}"/>
              </a:ext>
            </a:extLst>
          </p:cNvPr>
          <p:cNvSpPr/>
          <p:nvPr/>
        </p:nvSpPr>
        <p:spPr>
          <a:xfrm>
            <a:off x="4363178" y="5394960"/>
            <a:ext cx="492369" cy="46423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EEB21669-3CBB-4A36-A102-C91DBD321BA3}"/>
              </a:ext>
            </a:extLst>
          </p:cNvPr>
          <p:cNvSpPr/>
          <p:nvPr/>
        </p:nvSpPr>
        <p:spPr>
          <a:xfrm>
            <a:off x="4860436" y="4919020"/>
            <a:ext cx="979850" cy="464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9A237670-1EE4-468D-8291-B2341ABA402A}"/>
              </a:ext>
            </a:extLst>
          </p:cNvPr>
          <p:cNvSpPr/>
          <p:nvPr/>
        </p:nvSpPr>
        <p:spPr>
          <a:xfrm>
            <a:off x="5317589" y="4434740"/>
            <a:ext cx="522698" cy="47257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744A937E-5E57-4805-94AC-2F16F6789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301" y="4049719"/>
            <a:ext cx="231668" cy="213378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9A0CDD61-02CB-48A6-BB52-37C0E848D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121" y="4061425"/>
            <a:ext cx="60965" cy="396274"/>
          </a:xfrm>
          <a:prstGeom prst="rect">
            <a:avLst/>
          </a:prstGeom>
        </p:spPr>
      </p:pic>
      <p:sp>
        <p:nvSpPr>
          <p:cNvPr id="41" name="楕円 40">
            <a:extLst>
              <a:ext uri="{FF2B5EF4-FFF2-40B4-BE49-F238E27FC236}">
                <a16:creationId xmlns:a16="http://schemas.microsoft.com/office/drawing/2014/main" id="{DAF275B8-B66B-4464-8475-E1AAFA0AAD6C}"/>
              </a:ext>
            </a:extLst>
          </p:cNvPr>
          <p:cNvSpPr/>
          <p:nvPr/>
        </p:nvSpPr>
        <p:spPr>
          <a:xfrm rot="18960337">
            <a:off x="4905762" y="4525745"/>
            <a:ext cx="356582" cy="207499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04427BAB-6D06-4304-9406-F3D20A75B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637" y="4232307"/>
            <a:ext cx="493819" cy="481626"/>
          </a:xfrm>
          <a:prstGeom prst="rect">
            <a:avLst/>
          </a:prstGeom>
        </p:spPr>
      </p:pic>
      <p:sp>
        <p:nvSpPr>
          <p:cNvPr id="39" name="二等辺三角形 38">
            <a:extLst>
              <a:ext uri="{FF2B5EF4-FFF2-40B4-BE49-F238E27FC236}">
                <a16:creationId xmlns:a16="http://schemas.microsoft.com/office/drawing/2014/main" id="{AF72A6C4-32FE-43D6-947C-BD40EEA6A9D8}"/>
              </a:ext>
            </a:extLst>
          </p:cNvPr>
          <p:cNvSpPr/>
          <p:nvPr/>
        </p:nvSpPr>
        <p:spPr>
          <a:xfrm rot="19742171">
            <a:off x="4583543" y="4104234"/>
            <a:ext cx="226362" cy="21645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楕円 39">
            <a:extLst>
              <a:ext uri="{FF2B5EF4-FFF2-40B4-BE49-F238E27FC236}">
                <a16:creationId xmlns:a16="http://schemas.microsoft.com/office/drawing/2014/main" id="{CE4FD5D2-4756-49DC-9BE9-F736F54E858B}"/>
              </a:ext>
            </a:extLst>
          </p:cNvPr>
          <p:cNvSpPr/>
          <p:nvPr/>
        </p:nvSpPr>
        <p:spPr>
          <a:xfrm rot="3321889">
            <a:off x="4552394" y="4653817"/>
            <a:ext cx="356582" cy="207499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010D2E6-61BA-4C9A-8241-9FD906D913BC}"/>
              </a:ext>
            </a:extLst>
          </p:cNvPr>
          <p:cNvSpPr txBox="1"/>
          <p:nvPr/>
        </p:nvSpPr>
        <p:spPr>
          <a:xfrm rot="21283394">
            <a:off x="2471206" y="3720338"/>
            <a:ext cx="3185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ジャンプでゴール！</a:t>
            </a:r>
          </a:p>
        </p:txBody>
      </p:sp>
    </p:spTree>
    <p:extLst>
      <p:ext uri="{BB962C8B-B14F-4D97-AF65-F5344CB8AC3E}">
        <p14:creationId xmlns:p14="http://schemas.microsoft.com/office/powerpoint/2010/main" val="1395186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D89AC63-9F08-4CEE-A6AF-088F24DBD5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012799" y="-4343400"/>
            <a:ext cx="16020650" cy="155447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51DD64BB-1183-48B4-AB9D-0F42A61B2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4F95F5-6AF5-4970-9952-90DCE1C39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40246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D89AC63-9F08-4CEE-A6AF-088F24DBD5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012799" y="-4343400"/>
            <a:ext cx="16020650" cy="155447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51DD64BB-1183-48B4-AB9D-0F42A61B2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4F95F5-6AF5-4970-9952-90DCE1C39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801144993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2255</TotalTime>
  <Words>88</Words>
  <Application>Microsoft Office PowerPoint</Application>
  <PresentationFormat>ワイド画面</PresentationFormat>
  <Paragraphs>25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Calibri</vt:lpstr>
      <vt:lpstr>Calibri Light</vt:lpstr>
      <vt:lpstr>Tw Cen MT Condensed Extra Bold</vt:lpstr>
      <vt:lpstr>Wingdings 2</vt:lpstr>
      <vt:lpstr>ポプらむ☆キウイ Telop</vt:lpstr>
      <vt:lpstr>HDOfficeLightV0</vt:lpstr>
      <vt:lpstr>プルプルキャット</vt:lpstr>
      <vt:lpstr>メインターゲット</vt:lpstr>
      <vt:lpstr>ゲームコンセプト</vt:lpstr>
      <vt:lpstr>あらすじ</vt:lpstr>
      <vt:lpstr>ゲームシステム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（保留）</dc:title>
  <dc:creator>立山　則仁</dc:creator>
  <cp:lastModifiedBy>立山　則仁</cp:lastModifiedBy>
  <cp:revision>35</cp:revision>
  <dcterms:created xsi:type="dcterms:W3CDTF">2025-09-11T02:22:28Z</dcterms:created>
  <dcterms:modified xsi:type="dcterms:W3CDTF">2025-11-17T09:14:16Z</dcterms:modified>
</cp:coreProperties>
</file>